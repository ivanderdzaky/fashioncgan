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Discriminator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0.358</c:v>
                </c:pt>
                <c:pt idx="1">
                  <c:v>0.396</c:v>
                </c:pt>
                <c:pt idx="2">
                  <c:v>0.428</c:v>
                </c:pt>
                <c:pt idx="3">
                  <c:v>0.399</c:v>
                </c:pt>
                <c:pt idx="4">
                  <c:v>0.449</c:v>
                </c:pt>
                <c:pt idx="5">
                  <c:v>0.553</c:v>
                </c:pt>
                <c:pt idx="6">
                  <c:v>0.645</c:v>
                </c:pt>
                <c:pt idx="7">
                  <c:v>0.669</c:v>
                </c:pt>
                <c:pt idx="8">
                  <c:v>0.675</c:v>
                </c:pt>
                <c:pt idx="9">
                  <c:v>0.782</c:v>
                </c:pt>
                <c:pt idx="10">
                  <c:v>0.853</c:v>
                </c:pt>
                <c:pt idx="11">
                  <c:v>0.861</c:v>
                </c:pt>
                <c:pt idx="12">
                  <c:v>0.91</c:v>
                </c:pt>
                <c:pt idx="13">
                  <c:v>0.958</c:v>
                </c:pt>
                <c:pt idx="14">
                  <c:v>0.948</c:v>
                </c:pt>
                <c:pt idx="15">
                  <c:v>1</c:v>
                </c:pt>
                <c:pt idx="16">
                  <c:v>1.033</c:v>
                </c:pt>
                <c:pt idx="17">
                  <c:v>1.045</c:v>
                </c:pt>
                <c:pt idx="18">
                  <c:v>1.052</c:v>
                </c:pt>
                <c:pt idx="19">
                  <c:v>1.057</c:v>
                </c:pt>
                <c:pt idx="20">
                  <c:v>1.066</c:v>
                </c:pt>
                <c:pt idx="21">
                  <c:v>1.095</c:v>
                </c:pt>
                <c:pt idx="22">
                  <c:v>1.136</c:v>
                </c:pt>
                <c:pt idx="23">
                  <c:v>1.152</c:v>
                </c:pt>
                <c:pt idx="24">
                  <c:v>1.131</c:v>
                </c:pt>
                <c:pt idx="25">
                  <c:v>1.158</c:v>
                </c:pt>
                <c:pt idx="26">
                  <c:v>1.17</c:v>
                </c:pt>
                <c:pt idx="27">
                  <c:v>1.176</c:v>
                </c:pt>
                <c:pt idx="28">
                  <c:v>1.188</c:v>
                </c:pt>
                <c:pt idx="29">
                  <c:v>1.2</c:v>
                </c:pt>
                <c:pt idx="30">
                  <c:v>1.191</c:v>
                </c:pt>
                <c:pt idx="31">
                  <c:v>1.198</c:v>
                </c:pt>
                <c:pt idx="32">
                  <c:v>1.201</c:v>
                </c:pt>
                <c:pt idx="33">
                  <c:v>1.209</c:v>
                </c:pt>
                <c:pt idx="34">
                  <c:v>1.208</c:v>
                </c:pt>
                <c:pt idx="35">
                  <c:v>1.227</c:v>
                </c:pt>
                <c:pt idx="36">
                  <c:v>1.228</c:v>
                </c:pt>
                <c:pt idx="37">
                  <c:v>1.23</c:v>
                </c:pt>
                <c:pt idx="38">
                  <c:v>1.23</c:v>
                </c:pt>
                <c:pt idx="39">
                  <c:v>1.241</c:v>
                </c:pt>
                <c:pt idx="40">
                  <c:v>1.251</c:v>
                </c:pt>
                <c:pt idx="41">
                  <c:v>1.245</c:v>
                </c:pt>
                <c:pt idx="42">
                  <c:v>1.244</c:v>
                </c:pt>
                <c:pt idx="43">
                  <c:v>1.25</c:v>
                </c:pt>
                <c:pt idx="44">
                  <c:v>1.249</c:v>
                </c:pt>
                <c:pt idx="45">
                  <c:v>1.251</c:v>
                </c:pt>
                <c:pt idx="46">
                  <c:v>1.252</c:v>
                </c:pt>
                <c:pt idx="47">
                  <c:v>1.256</c:v>
                </c:pt>
                <c:pt idx="48">
                  <c:v>1.256</c:v>
                </c:pt>
                <c:pt idx="49">
                  <c:v>1.261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Generator</c:v>
                </c:pt>
              </c:strCache>
            </c:strRef>
          </c:tx>
          <c:spPr>
            <a:solidFill>
              <a:srgbClr val="F96167"/>
            </a:solidFill>
            <a:ln w="254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3.212</c:v>
                </c:pt>
                <c:pt idx="1">
                  <c:v>5.212</c:v>
                </c:pt>
                <c:pt idx="2">
                  <c:v>3.682</c:v>
                </c:pt>
                <c:pt idx="3">
                  <c:v>3.715</c:v>
                </c:pt>
                <c:pt idx="4">
                  <c:v>3.714</c:v>
                </c:pt>
                <c:pt idx="5">
                  <c:v>3.351</c:v>
                </c:pt>
                <c:pt idx="6">
                  <c:v>2.81</c:v>
                </c:pt>
                <c:pt idx="7">
                  <c:v>2.791</c:v>
                </c:pt>
                <c:pt idx="8">
                  <c:v>2.595</c:v>
                </c:pt>
                <c:pt idx="9">
                  <c:v>2.311</c:v>
                </c:pt>
                <c:pt idx="10">
                  <c:v>2.025</c:v>
                </c:pt>
                <c:pt idx="11">
                  <c:v>1.988</c:v>
                </c:pt>
                <c:pt idx="12">
                  <c:v>1.856</c:v>
                </c:pt>
                <c:pt idx="13">
                  <c:v>1.754</c:v>
                </c:pt>
                <c:pt idx="14">
                  <c:v>1.791</c:v>
                </c:pt>
                <c:pt idx="15">
                  <c:v>1.646</c:v>
                </c:pt>
                <c:pt idx="16">
                  <c:v>1.535</c:v>
                </c:pt>
                <c:pt idx="17">
                  <c:v>1.481</c:v>
                </c:pt>
                <c:pt idx="18">
                  <c:v>1.509</c:v>
                </c:pt>
                <c:pt idx="19">
                  <c:v>1.508</c:v>
                </c:pt>
                <c:pt idx="20">
                  <c:v>1.451</c:v>
                </c:pt>
                <c:pt idx="21">
                  <c:v>1.374</c:v>
                </c:pt>
                <c:pt idx="22">
                  <c:v>1.294</c:v>
                </c:pt>
                <c:pt idx="23">
                  <c:v>1.278</c:v>
                </c:pt>
                <c:pt idx="24">
                  <c:v>1.264</c:v>
                </c:pt>
                <c:pt idx="25">
                  <c:v>1.261</c:v>
                </c:pt>
                <c:pt idx="26">
                  <c:v>1.208</c:v>
                </c:pt>
                <c:pt idx="27">
                  <c:v>1.164</c:v>
                </c:pt>
                <c:pt idx="28">
                  <c:v>1.146</c:v>
                </c:pt>
                <c:pt idx="29">
                  <c:v>1.138</c:v>
                </c:pt>
                <c:pt idx="30">
                  <c:v>1.134</c:v>
                </c:pt>
                <c:pt idx="31">
                  <c:v>1.131</c:v>
                </c:pt>
                <c:pt idx="32">
                  <c:v>1.103</c:v>
                </c:pt>
                <c:pt idx="33">
                  <c:v>1.099</c:v>
                </c:pt>
                <c:pt idx="34">
                  <c:v>1.082</c:v>
                </c:pt>
                <c:pt idx="35">
                  <c:v>1.065</c:v>
                </c:pt>
                <c:pt idx="36">
                  <c:v>1.05</c:v>
                </c:pt>
                <c:pt idx="37">
                  <c:v>1.052</c:v>
                </c:pt>
                <c:pt idx="38">
                  <c:v>1.013</c:v>
                </c:pt>
                <c:pt idx="39">
                  <c:v>1.004</c:v>
                </c:pt>
                <c:pt idx="40">
                  <c:v>0.989</c:v>
                </c:pt>
                <c:pt idx="41">
                  <c:v>0.998</c:v>
                </c:pt>
                <c:pt idx="42">
                  <c:v>0.992</c:v>
                </c:pt>
                <c:pt idx="43">
                  <c:v>0.971</c:v>
                </c:pt>
                <c:pt idx="44">
                  <c:v>0.98</c:v>
                </c:pt>
                <c:pt idx="45">
                  <c:v>0.975</c:v>
                </c:pt>
                <c:pt idx="46">
                  <c:v>0.97</c:v>
                </c:pt>
                <c:pt idx="47">
                  <c:v>0.96</c:v>
                </c:pt>
                <c:pt idx="48">
                  <c:v>0.948</c:v>
                </c:pt>
                <c:pt idx="49">
                  <c:v>0.956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22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anggota dan judul. Sebut bahwa seluruh model dibangun dari komponen dasar PyTorch tanpa model pretrained.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celah: implementasi populer menyembunyikan mekanisme dasar, dan loss adversarial tidak mengukur kualitas.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Distribusi kelas seimbang sehingga perbedaan hasil antarkelas bukan efek jumlah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tensor: noise 100 + one-hot 10 = 110 masuk Generator; gambar 784 + one-hot 10 = 794 masuk Discriminator.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pembekuan parameter Discriminator saat update Generator untuk mencegah perubahan bersamaan.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Garis D naik lalu stabil, G turun. Ingatkan bahwa loss bukan metrik kualitas.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tiga epoch dengan noise yang sama agar perbandingan adil.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kelas yang gagal jelas: Shirt sering tertukar dengan Coat/Pullover.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variasi lengan dan sol; sebut ragam masih lebih sempit dari data asli.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classifier dilatih terpisah dari data asli, lalu dipakai sebagai penilai.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 empat temuan, hubungkan kembali dengan rumusan 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CNN sebagai eksperimen terpisah tanpa mengubah kontrak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MATA KULIAH GENERATIVE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GAN Berbasis MLP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Generasi Citra Pakaian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Fashion-MNIST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Ivander Dzaky Khairullah (103012300174)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Ragil (103012300015)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Silmi Sila Nia Uma (103012430070)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Pengampu: Dr. Aditya Firman Ihsan, S.Si., M.Si.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54335" y="5577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dibahas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2002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404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cGAN dan Fashion-MNIST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69480" y="2002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69480" y="2404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&amp; Discriminator MLP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564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419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822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Konfigurasi, loss, dan alur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4564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3419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visual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69480" y="3822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epoch dan sampel per kelas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737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4837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5239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classifier per kelas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4617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8737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69480" y="4837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5239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Temuan, batasan, dan saran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dan tujuan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melatih dua jaringan berlawanan: Generator membuat gambar, Discriminator menilai keasliannya.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dasar tidak bisa diminta membuat kelas tertentu, sehingga perlu conditioning label (cGAN).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konvolusional bergantung pada model pretrained; mekanisme dasarnya jadi tersembunyi.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kualitas butuh metrik terpisah, karena loss adversarial hanya mengukur keseimbangan D dan 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95160" y="260604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 MLP dari komponen dasar PyTorch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(seed &amp; konfigurasi tercatat)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tanpa model pretrained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kelas yang sulit dipelajari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Fashion-MNIST: 10 kelas, 60.000 citra latih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1. Satu contoh citra per kelas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858000" y="17830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9476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28×28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08660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grayscale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418320" y="178308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46920" y="1947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6469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pakaian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34290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3593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60.000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086600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latih (6.000/kelas)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418320" y="342900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46920" y="35935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64692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uji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kelas seimbang, sehingga perbedaan kualitas antarkelas dipengaruhi bentuk, bukan jumlah data.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Conditioning label pada kedua jaringan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3C4A8C"/>
          </a:solidFill>
          <a:ln w="12700">
            <a:solidFill>
              <a:srgbClr val="3C4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3911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9659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C4A8C"/>
          </a:solidFill>
          <a:ln w="12700">
            <a:solidFill>
              <a:srgbClr val="3C4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0391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(10)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923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110 → Linear 256 (ReLU)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3075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512 (ReLU)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6227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784 + tanh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3C4A8C"/>
          </a:solidFill>
          <a:ln w="12700">
            <a:solidFill>
              <a:srgbClr val="3C4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19379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1×28×28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196596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3C4A8C"/>
          </a:solidFill>
          <a:ln w="12700">
            <a:solidFill>
              <a:srgbClr val="3C4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03911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(784)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58200" y="19659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C4A8C"/>
          </a:solidFill>
          <a:ln w="12700">
            <a:solidFill>
              <a:srgbClr val="3C4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0391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(10)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97180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99923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794 → Linear 512 (LeakyReLU)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70332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73075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256 (LeakyReLU)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443484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46227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1 (logit, tanpa sigmoid)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5166360"/>
            <a:ext cx="3886200" cy="640080"/>
          </a:xfrm>
          <a:prstGeom prst="roundRect">
            <a:avLst>
              <a:gd name="adj" fmla="val 8571"/>
            </a:avLst>
          </a:prstGeom>
          <a:solidFill>
            <a:srgbClr val="3C4A8C"/>
          </a:solidFill>
          <a:ln w="12700">
            <a:solidFill>
              <a:srgbClr val="3C4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19379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iterasi, dua kali pembaruan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013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709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Discriminator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 → target 1, palsu → target 0, lalu backward dan step.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1693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Bekukan Discriminator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parameter requires_grad=False saat update Generator.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32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941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Generator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270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palsu dinilai D, target 1 agar menipu Discriminator.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480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056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&amp; simpan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3858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per epoch dan metrics.csv untuk analisis.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2e-4, betas (0.5; 0.999)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244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Epoch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924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/ 50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44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(tanpa GPU)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9244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(Python, NumPy, PyTorch, shuffle)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4617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9244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1.061,2 detik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PELATIHAN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D dan G seimbang di paruh akhir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901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1,2613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54964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 akhir (epoch 50)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0" y="33375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35021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0,9564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54964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 akhir (epoch 50)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2104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adversarial mengukur keseimbangan kedua jaringan, bukan kualitas gambar.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VISUAL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muncul dari epoch ke epoch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58521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5332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2. Keluaran Generator pada epoch 1, 25, dan 50 dengan noise tetap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73736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berubah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80960" y="23774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1: gumpalan abu-abu tanpa siluet.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25: kaus, tas, dan sepatu mulai jelas.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50: kontras dan siluet lebih tegas.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Derau di latar masih tersisa.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HASIL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sampel per kelas (epoch 50)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356616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berhasil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0060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 · Bag · Sneaker · Ankle boot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 khas, mudah dikenali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8388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sulit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· Coat · Pullover · Dress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 beririsan, sering tertukar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3886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lapisan konvolusi, Generator hanya menangkap pola global, bukan tekstur dan detail tepi.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KERAGAMAN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terjadi mode collapse total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091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3. Dua belas sampel per kelas (T-shirt, Dress, Shirt, Sneaker)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173736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Pengamatan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49640" y="233172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 kemiringan lengan terlihat.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sol Sneaker beragam.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Ragam lebih sempit dari data asli.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menilai kesesuaian kelas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0,8755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data asli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8562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0,8670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033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generator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8562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terbaik: Trouser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6916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5480" y="18562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55548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terlemah: Shirt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37560"/>
            <a:ext cx="6766560" cy="30175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89520" y="3429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MLP classifier dilatih dari data asli (5 epoch), lalu 100 gambar per kelas diuji.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0" y="44805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0,0085 terhadap data asli menunjukkan mayoritas gambar generator sudah dikenali sesuai kelasnya, meski classifier berkapasitas kecil.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utama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bekerja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30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one-hot mengubah bentuk keluaran; kelas bersiluet khas unggul.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182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42, konfigurasi YAML, 50 epoch CPU dalam 1.061,2 detik.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terukur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2336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generator 0,8670 vs data asli 0,8755.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2A3475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MLP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2852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tepi dan kelas mirip (Shirt, Coat) masih lemah.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berikutnya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/ DCGAN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konvolusi untuk detail tepi dan tekstur.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keragaman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mode collapse secara kuantitatif tanpa pretrained.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lebih kuat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lebih besar agar cacat lokal tertangkap.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Eksperimen lanjutan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4526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data tetap, arsitektur diuji terpisah.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FashionCGAN · Tugas Generative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dan diskusi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Ivander Dzaky Khairullah · Muhammad Ragil · Silmi Sila Nia Uma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github.com/IvanderDzaky/FashionCGAN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FashionCGAN - Conditional GAN MLP untuk Generasi Citra Pakaian</dc:title>
  <dc:subject>PptxGenJS Presentation</dc:subject>
  <dc:creator>Ivander Dzaky Khairullah, Muhammad Ragil, Silmi Sila Nia Uma</dc:creator>
  <cp:lastModifiedBy>Ivander Dzaky Khairullah, Muhammad Ragil, Silmi Sila Nia Uma</cp:lastModifiedBy>
  <cp:revision>1</cp:revision>
  <dcterms:created xsi:type="dcterms:W3CDTF">2026-10-29T03:20:34Z</dcterms:created>
  <dcterms:modified xsi:type="dcterms:W3CDTF">2026-10-29T03:20:34Z</dcterms:modified>
</cp:coreProperties>
</file>